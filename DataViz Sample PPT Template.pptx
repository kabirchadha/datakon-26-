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23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every [bracketed] text with your own details: project title, team name, member names and the problem statement your team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Guidance slide for participants. Delete it before presenting. Slide count, timings and permitted tools will be announced by the organizers.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you picked and the two or three questions your visualization will answer. Keep it to this 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dataset you were given: its size, period and key metric, then how you cleaned it. This shows the judges your Data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judges through your process in four steps, then name the tools you used. Only use tools the organizers have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your main chart. Make the title say the finding, for example "Sales peak every December", rather than just naming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supporting charts side by side. Use different chart types where the data allows, for example a trend, a comparison and a relationship. Duplicate this slide if you need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each card with the number that proves the point, then explain it in one sentence. This is where Insight and Interpretation marks are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your demo before you present. Rehearse the four steps so the live demo runs smoothly, and keep a backup screenshot in case of technical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answer the question you posed on the problem statement slide, then give actions someone could take based on your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Add your team name and member names, then invite questions from the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45616"/>
            <a:ext cx="10566400" cy="409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45616"/>
            <a:ext cx="10566400" cy="409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350000" y="0"/>
            <a:ext cx="5842000" cy="5842000"/>
          </a:xfrm>
          <a:prstGeom prst="roundRect">
            <a:avLst>
              <a:gd name="adj" fmla="val 27826"/>
            </a:avLst>
          </a:prstGeom>
          <a:gradFill rotWithShape="1">
            <a:gsLst>
              <a:gs pos="0">
                <a:srgbClr val="3FD8F0">
                  <a:alpha val="30000"/>
                </a:srgbClr>
              </a:gs>
              <a:gs pos="70000">
                <a:srgbClr val="3FD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587566"/>
            <a:ext cx="74903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DSBS STUDENTS ASSOCIATION SRMIST · 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014273"/>
            <a:ext cx="703834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DATAKON'26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12800" y="3258873"/>
            <a:ext cx="1930797" cy="533400"/>
          </a:xfrm>
          <a:prstGeom prst="roundRect">
            <a:avLst>
              <a:gd name="adj" fmla="val 50000"/>
            </a:avLst>
          </a:prstGeom>
          <a:solidFill>
            <a:srgbClr val="3FD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kern="0" spc="400" dirty="0">
                <a:solidFill>
                  <a:srgbClr val="0B07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DATAVIZ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3970073"/>
            <a:ext cx="942288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r>
              <a:rPr lang="en-IN" sz="3600" dirty="0">
                <a:latin typeface="+mj-lt"/>
              </a:rPr>
              <a:t>SRM </a:t>
            </a:r>
            <a:r>
              <a:rPr lang="en-IN" sz="3600" dirty="0" err="1">
                <a:latin typeface="+mj-lt"/>
              </a:rPr>
              <a:t>SmartOps</a:t>
            </a:r>
            <a:r>
              <a:rPr lang="en-IN" sz="3600" dirty="0">
                <a:latin typeface="+mj-lt"/>
              </a:rPr>
              <a:t>: Data-Driven Flow &amp; Congestion Mitigation</a:t>
            </a:r>
            <a:endParaRPr lang="en-US" sz="36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" y="4650780"/>
            <a:ext cx="673639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 </a:t>
            </a:r>
            <a:r>
              <a:rPr lang="en-US" sz="1600" dirty="0" err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ShadowStack</a:t>
            </a: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| Members: Kabir Singh Chadha, Viraj Singh </a:t>
            </a:r>
            <a:r>
              <a:rPr lang="en-US" sz="1600" dirty="0" err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Bhadouria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99" y="5059759"/>
            <a:ext cx="890036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statement: </a:t>
            </a:r>
            <a:r>
              <a:rPr lang="en-IN" sz="1600" dirty="0"/>
              <a:t>5. CAMPUSPULSE — Smart Campus Operations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October 2026 ·  SRMIST Kattankulathur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FIRST · DELETE BEFORE PRESENTING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7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How to use this template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89"/>
            <a:ext cx="3380317" cy="1983317"/>
          </a:xfrm>
          <a:prstGeom prst="roundRect">
            <a:avLst>
              <a:gd name="adj" fmla="val 7524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Keep the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033" y="2559447"/>
            <a:ext cx="295630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the slide order: problem, dataset, approach, visuals, insights, demo, conclusion. Replace every [bracketed] text.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842" y="1897989"/>
            <a:ext cx="3380317" cy="1983317"/>
          </a:xfrm>
          <a:prstGeom prst="roundRect">
            <a:avLst>
              <a:gd name="adj" fmla="val 7524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60900" y="215304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One chart, one message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0900" y="2559447"/>
            <a:ext cx="295630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 each chart a title that states the finding, and add a one-line takeaway beside 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709" y="1897989"/>
            <a:ext cx="3380317" cy="1983317"/>
          </a:xfrm>
          <a:prstGeom prst="roundRect">
            <a:avLst>
              <a:gd name="adj" fmla="val 7524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50767" y="215304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Demo-ready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50767" y="2559447"/>
            <a:ext cx="295630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slides to tell the story, then switch to your final visualization for the live demo.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4144831"/>
            <a:ext cx="10566400" cy="0"/>
          </a:xfrm>
          <a:prstGeom prst="line">
            <a:avLst/>
          </a:prstGeom>
          <a:noFill/>
          <a:ln w="12700">
            <a:solidFill>
              <a:srgbClr val="3FD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2800" y="430358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Judging criteria (100 marks)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603287"/>
            <a:ext cx="108833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Understanding 15 · Visualization Quality 20 · Interactivity 15 · Insight &amp; Interpretation 20 · Technical Implementation 10 · Creativity 10 · PPT &amp; Demo 10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SETUP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7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problem we chose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1056" y="2400115"/>
            <a:ext cx="4805087" cy="174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endParaRPr lang="en-IN" sz="1600" b="1" u="sng" dirty="0"/>
          </a:p>
          <a:p>
            <a:r>
              <a:rPr lang="en-IN" sz="1600" b="1" u="sng" dirty="0"/>
              <a:t>Problem Statement:</a:t>
            </a:r>
          </a:p>
          <a:p>
            <a:endParaRPr lang="en-IN" sz="1600" b="1" u="sng" dirty="0"/>
          </a:p>
          <a:p>
            <a:r>
              <a:rPr lang="en-IN" sz="1600" dirty="0"/>
              <a:t>Modern university campuses face operational bottlenecks where peak class transitions cause severe congestion across food courts, gate entry points, and transit networks. Using the </a:t>
            </a:r>
            <a:r>
              <a:rPr lang="en-IN" sz="1600" dirty="0" err="1"/>
              <a:t>CampusPulse</a:t>
            </a:r>
            <a:r>
              <a:rPr lang="en-IN" sz="1600" dirty="0"/>
              <a:t> dataset of 12,000 logs, we </a:t>
            </a:r>
            <a:r>
              <a:rPr lang="en-IN" sz="1600" dirty="0" err="1"/>
              <a:t>analyze</a:t>
            </a:r>
            <a:r>
              <a:rPr lang="en-IN" sz="1600" dirty="0"/>
              <a:t> these spatial-temporal bottlenecks to transform raw sensor data into actionable mobility engineering decisions.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7273" y="4213444"/>
            <a:ext cx="5053952" cy="144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u="sng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does it matter? Who benefits from the answer?</a:t>
            </a:r>
          </a:p>
          <a:p>
            <a:pPr marL="0" indent="0" algn="l">
              <a:lnSpc>
                <a:spcPts val="2100"/>
              </a:lnSpc>
              <a:buNone/>
            </a:pPr>
            <a:endParaRPr lang="en-US" sz="1500" b="1" u="sng" dirty="0">
              <a:solidFill>
                <a:srgbClr val="E4E0FF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r>
              <a:rPr lang="en-IN" sz="1600" dirty="0"/>
              <a:t>Resolving these operational bottlenecks directly improves daily student satisfaction, reduces campus transit wait times by over 40%, and provides university management with data-backed decisions for smart infrastructure resource allocation.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897990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558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Questions we answer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5389" y="2559447"/>
            <a:ext cx="4757912" cy="309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IN" sz="1600" b="1" dirty="0"/>
              <a:t>Where and when do critical campus congestion hotspots peak, and what are their primary drivers?</a:t>
            </a:r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How severely do canteen order bottlenecks and shuttle fleet overcapacity impact overall student satisfaction?</a:t>
            </a:r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If given responsibility for university operations, what three data-driven changes would optimize campus efficiency, and how do we prove their impact?</a:t>
            </a:r>
            <a:endParaRPr lang="en-IN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SETUP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7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45633" y="2127647"/>
            <a:ext cx="2084239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IN" sz="3600" dirty="0"/>
              <a:t>12,000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5633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83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38033" y="2127647"/>
            <a:ext cx="2084239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IN" sz="3600" dirty="0"/>
              <a:t>20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38033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07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25657" y="2231761"/>
            <a:ext cx="2293790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r>
              <a:rPr lang="en-IN" sz="3600" dirty="0"/>
              <a:t>Jan – Apr 2026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30433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period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931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18312" y="2201039"/>
            <a:ext cx="2360888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r>
              <a:rPr lang="en-IN" sz="3600" dirty="0"/>
              <a:t>Student Satisfaction (1.0 - 5.0)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22834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metric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975" y="3420269"/>
            <a:ext cx="10560050" cy="1773767"/>
          </a:xfrm>
          <a:prstGeom prst="roundRect">
            <a:avLst>
              <a:gd name="adj" fmla="val 8413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71033" y="3497348"/>
            <a:ext cx="103514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Cleaning and preparation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878" y="3904159"/>
            <a:ext cx="10640435" cy="136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lvl="0"/>
            <a:r>
              <a:rPr lang="en-IN" sz="1100" b="1" dirty="0"/>
              <a:t>Missing values and duplicates:</a:t>
            </a:r>
            <a:r>
              <a:rPr lang="en-IN" sz="1100" dirty="0"/>
              <a:t> Handled 96 missing </a:t>
            </a:r>
            <a:r>
              <a:rPr lang="en-IN" sz="1200" dirty="0"/>
              <a:t>Weather</a:t>
            </a:r>
            <a:r>
              <a:rPr lang="en-IN" sz="1100" dirty="0"/>
              <a:t> records, 72 </a:t>
            </a:r>
            <a:r>
              <a:rPr lang="en-IN" sz="1200" dirty="0"/>
              <a:t>Vehicle_Count</a:t>
            </a:r>
            <a:r>
              <a:rPr lang="en-IN" sz="1100" dirty="0"/>
              <a:t> nulls, and 120 </a:t>
            </a:r>
            <a:r>
              <a:rPr lang="en-IN" sz="1200" dirty="0" err="1"/>
              <a:t>Student_Satisfaction</a:t>
            </a:r>
            <a:r>
              <a:rPr lang="en-IN" sz="1100" dirty="0"/>
              <a:t> nulls using median/mode imputation; 0 duplicate records found.</a:t>
            </a:r>
          </a:p>
          <a:p>
            <a:pPr lvl="0"/>
            <a:endParaRPr lang="en-IN" sz="1100" dirty="0"/>
          </a:p>
          <a:p>
            <a:pPr lvl="0"/>
            <a:r>
              <a:rPr lang="en-IN" sz="1100" b="1" dirty="0"/>
              <a:t>Columns created or transformed:</a:t>
            </a:r>
            <a:r>
              <a:rPr lang="en-IN" sz="1100" dirty="0"/>
              <a:t> Extracted integer </a:t>
            </a:r>
            <a:r>
              <a:rPr lang="en-IN" sz="1200" dirty="0"/>
              <a:t>Hour</a:t>
            </a:r>
            <a:r>
              <a:rPr lang="en-IN" sz="1100" dirty="0"/>
              <a:t> from time stamps, derived </a:t>
            </a:r>
            <a:r>
              <a:rPr lang="en-IN" sz="1200" dirty="0"/>
              <a:t>Shuttle_Deficit</a:t>
            </a:r>
            <a:r>
              <a:rPr lang="en-IN" sz="1100" dirty="0"/>
              <a:t> (</a:t>
            </a:r>
            <a:r>
              <a:rPr lang="en-IN" sz="1200" dirty="0"/>
              <a:t>Demand - Capacity</a:t>
            </a:r>
            <a:r>
              <a:rPr lang="en-IN" sz="1100" dirty="0"/>
              <a:t>), and engineered </a:t>
            </a:r>
            <a:r>
              <a:rPr lang="en-IN" sz="1200" dirty="0" err="1"/>
              <a:t>Transition_Bin</a:t>
            </a:r>
            <a:r>
              <a:rPr lang="en-IN" sz="1100" dirty="0"/>
              <a:t> for class surge intensity.</a:t>
            </a:r>
          </a:p>
          <a:p>
            <a:pPr lvl="0"/>
            <a:endParaRPr lang="en-IN" sz="1100" dirty="0"/>
          </a:p>
          <a:p>
            <a:pPr lvl="0"/>
            <a:r>
              <a:rPr lang="en-IN" sz="1100" b="1" dirty="0"/>
              <a:t>Filters or aggregations applied before charting:</a:t>
            </a:r>
            <a:r>
              <a:rPr lang="en-IN" sz="1100" dirty="0"/>
              <a:t> Grouped by </a:t>
            </a:r>
            <a:r>
              <a:rPr lang="en-IN" sz="1200" dirty="0"/>
              <a:t>Zone</a:t>
            </a:r>
            <a:r>
              <a:rPr lang="en-IN" sz="1100" dirty="0"/>
              <a:t>, </a:t>
            </a:r>
            <a:r>
              <a:rPr lang="en-IN" sz="1200" dirty="0"/>
              <a:t>Hour</a:t>
            </a:r>
            <a:r>
              <a:rPr lang="en-IN" sz="1100" dirty="0"/>
              <a:t>, and </a:t>
            </a:r>
            <a:r>
              <a:rPr lang="en-IN" sz="1200" dirty="0" err="1"/>
              <a:t>Week_Type</a:t>
            </a:r>
            <a:r>
              <a:rPr lang="en-IN" sz="1100" dirty="0"/>
              <a:t> to aggregate mean footfall, transit overcapacity, and canteen queue wait times.</a:t>
            </a:r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Approach and tools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45633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45633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Clean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5633" y="3031861"/>
            <a:ext cx="2084239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[What you fixed or removed]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83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38033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38033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Explore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8033" y="3031861"/>
            <a:ext cx="2084239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[Patterns you checked first]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30433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30433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Visualize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30433" y="3031861"/>
            <a:ext cx="2084239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[Charts you chose and why]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31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22834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22834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Interpret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22834" y="3031861"/>
            <a:ext cx="2084239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[How you turned charts into findings]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5975" y="4019683"/>
            <a:ext cx="10560050" cy="1107017"/>
          </a:xfrm>
          <a:prstGeom prst="roundRect">
            <a:avLst>
              <a:gd name="adj" fmla="val 13480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71033" y="4249341"/>
            <a:ext cx="103514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1033" y="4630341"/>
            <a:ext cx="103514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[List the tools approved by the organizers that you used]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Visualization 1: [Finding as title]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325" y="1904340"/>
            <a:ext cx="6788150" cy="3928137"/>
          </a:xfrm>
          <a:prstGeom prst="roundRect">
            <a:avLst>
              <a:gd name="adj" fmla="val 3637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3FD8F0"/>
            </a:solidFill>
            <a:prstDash val="dash"/>
          </a:ln>
        </p:spPr>
        <p:txBody>
          <a:bodyPr wrap="square" lIns="219562" tIns="219562" rIns="219562" bIns="219562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[Insert your chart or screenshot here]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26375" y="1897990"/>
            <a:ext cx="3549650" cy="3940837"/>
          </a:xfrm>
          <a:prstGeom prst="roundRect">
            <a:avLst>
              <a:gd name="adj" fmla="val 4204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81434" y="2153047"/>
            <a:ext cx="313071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it shows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52554" y="2559447"/>
            <a:ext cx="305197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[Trend, comparison or relationship]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[Key number to remember]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[Why this chart type fits]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Visualizations 2 and 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325" y="1904340"/>
            <a:ext cx="5162550" cy="3534437"/>
          </a:xfrm>
          <a:prstGeom prst="roundRect">
            <a:avLst>
              <a:gd name="adj" fmla="val 4042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3FD8F0"/>
            </a:solidFill>
            <a:prstDash val="dash"/>
          </a:ln>
        </p:spPr>
        <p:txBody>
          <a:bodyPr wrap="square" lIns="168762" tIns="168762" rIns="168762" bIns="168762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[Insert chart 2 here]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557530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[One-line takeaway for chart 2]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07125" y="1904340"/>
            <a:ext cx="5162550" cy="3534437"/>
          </a:xfrm>
          <a:prstGeom prst="roundRect">
            <a:avLst>
              <a:gd name="adj" fmla="val 4042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3FD8F0"/>
            </a:solidFill>
            <a:prstDash val="dash"/>
          </a:ln>
        </p:spPr>
        <p:txBody>
          <a:bodyPr wrap="square" lIns="168762" tIns="168762" rIns="168762" bIns="168762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[Insert chart 3 here]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600" y="557530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[One-line takeaway for chart 3]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3380317" cy="3940837"/>
          </a:xfrm>
          <a:prstGeom prst="roundRect">
            <a:avLst>
              <a:gd name="adj" fmla="val 441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295630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[__%]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71033" y="29251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Insight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1033" y="3331567"/>
            <a:ext cx="29563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[State the finding and what it means]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5842" y="1897990"/>
            <a:ext cx="3380317" cy="3940837"/>
          </a:xfrm>
          <a:prstGeom prst="roundRect">
            <a:avLst>
              <a:gd name="adj" fmla="val 441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60900" y="2153047"/>
            <a:ext cx="295630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[__x]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60900" y="29251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Insight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0900" y="3331567"/>
            <a:ext cx="29563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[State the finding and what it means]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95709" y="1897990"/>
            <a:ext cx="3380317" cy="3940837"/>
          </a:xfrm>
          <a:prstGeom prst="roundRect">
            <a:avLst>
              <a:gd name="adj" fmla="val 441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50767" y="2153047"/>
            <a:ext cx="295630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[___]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250767" y="29251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Insight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50767" y="3331567"/>
            <a:ext cx="29563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[State the finding and what it means]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Interactivity and demo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Interactive features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35041" y="2559447"/>
            <a:ext cx="4733459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Filters: [what users can filter]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Drill-downs: [what opens on click]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elements: [tooltips, toggles, sliders]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558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Demo flow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148" y="2559447"/>
            <a:ext cx="4761153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7686" indent="-217686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the final visualization</a:t>
            </a:r>
            <a:endParaRPr lang="en-US" sz="1600" dirty="0"/>
          </a:p>
          <a:p>
            <a:pPr marL="217686" indent="-217686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a filter: [which one]</a:t>
            </a:r>
            <a:endParaRPr lang="en-US" sz="1600" dirty="0"/>
          </a:p>
          <a:p>
            <a:pPr marL="217686" indent="-217686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Drill into: [which chart]</a:t>
            </a:r>
            <a:endParaRPr lang="en-US" sz="1600" dirty="0"/>
          </a:p>
          <a:p>
            <a:pPr marL="217686" indent="-217686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the key insight live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Conclusion and recommendations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we found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033" y="2559447"/>
            <a:ext cx="4805087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[Answer the problem statement in two or three sentences.]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1033" y="3229905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[Limits of the data or analysis, if any.]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558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to do 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5389" y="2559447"/>
            <a:ext cx="475791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4445" indent="-21444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[Recommendation 1]</a:t>
            </a:r>
            <a:endParaRPr lang="en-US" sz="1600" dirty="0"/>
          </a:p>
          <a:p>
            <a:pPr marL="214445" indent="-21444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[Recommendation 2]</a:t>
            </a:r>
            <a:endParaRPr lang="en-US" sz="1600" dirty="0"/>
          </a:p>
          <a:p>
            <a:pPr marL="214445" indent="-21444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[Recommendation 3]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350000" y="0"/>
            <a:ext cx="5842000" cy="5842000"/>
          </a:xfrm>
          <a:prstGeom prst="roundRect">
            <a:avLst>
              <a:gd name="adj" fmla="val 27826"/>
            </a:avLst>
          </a:prstGeom>
          <a:gradFill rotWithShape="1">
            <a:gsLst>
              <a:gs pos="0">
                <a:srgbClr val="3FD8F0">
                  <a:alpha val="30000"/>
                </a:srgbClr>
              </a:gs>
              <a:gs pos="70000">
                <a:srgbClr val="3FD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927889"/>
            <a:ext cx="290941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354597"/>
            <a:ext cx="553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12800" y="3599197"/>
            <a:ext cx="2634787" cy="533400"/>
          </a:xfrm>
          <a:prstGeom prst="roundRect">
            <a:avLst>
              <a:gd name="adj" fmla="val 50000"/>
            </a:avLst>
          </a:prstGeom>
          <a:solidFill>
            <a:srgbClr val="3FD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kern="0" spc="400" dirty="0">
                <a:solidFill>
                  <a:srgbClr val="0B07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4310397"/>
            <a:ext cx="286800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 [Team name]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645620"/>
            <a:ext cx="33413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[Name 1] · [Name 2] · [Name 3]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DSBS Students Association · SRMIST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Viz Sample PPT Template">
  <a:themeElements>
    <a:clrScheme name="DataViz Sample PPT Template">
      <a:dk1>
        <a:srgbClr val="110B45"/>
      </a:dk1>
      <a:lt1>
        <a:srgbClr val="FAF9F5"/>
      </a:lt1>
      <a:dk2>
        <a:srgbClr val="282357"/>
      </a:dk2>
      <a:lt2>
        <a:srgbClr val="C0BEC9"/>
      </a:lt2>
      <a:accent1>
        <a:srgbClr val="3FD8F0"/>
      </a:accent1>
      <a:accent2>
        <a:srgbClr val="DAD5FF"/>
      </a:accent2>
      <a:accent3>
        <a:srgbClr val="2B1F96"/>
      </a:accent3>
      <a:accent4>
        <a:srgbClr val="4A3CB8"/>
      </a:accent4>
      <a:accent5>
        <a:srgbClr val="E4E0FF"/>
      </a:accent5>
      <a:accent6>
        <a:srgbClr val="9AA0A6"/>
      </a:accent6>
      <a:hlink>
        <a:srgbClr val="0563C1"/>
      </a:hlink>
      <a:folHlink>
        <a:srgbClr val="954F72"/>
      </a:folHlink>
    </a:clrScheme>
    <a:fontScheme name="DataViz Sample PPT Templat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1124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DM Sans</vt:lpstr>
      <vt:lpstr>Fredoka</vt:lpstr>
      <vt:lpstr>DataViz Sample PPT Template</vt:lpstr>
      <vt:lpstr>DATAKON'26</vt:lpstr>
      <vt:lpstr>How to use this template</vt:lpstr>
      <vt:lpstr>Problem statement</vt:lpstr>
      <vt:lpstr>Dataset overview</vt:lpstr>
      <vt:lpstr>Approach and tools</vt:lpstr>
      <vt:lpstr>Visualization 1: [Finding as title]</vt:lpstr>
      <vt:lpstr>Visualizations 2 and 3</vt:lpstr>
      <vt:lpstr>Key insights</vt:lpstr>
      <vt:lpstr>Interactivity and demo plan</vt:lpstr>
      <vt:lpstr>Conclusion and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DataViz Sample PPT Template</dc:title>
  <dc:subject/>
  <dc:creator/>
  <cp:lastModifiedBy>chadhakabir88@outlook.com</cp:lastModifiedBy>
  <cp:revision>4</cp:revision>
  <dcterms:created xsi:type="dcterms:W3CDTF">2026-10-07T05:41:39Z</dcterms:created>
  <dcterms:modified xsi:type="dcterms:W3CDTF">2026-10-08T07:26:29Z</dcterms:modified>
</cp:coreProperties>
</file>