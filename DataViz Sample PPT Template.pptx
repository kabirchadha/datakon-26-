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3423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slide. Replace every [bracketed] text with your own details: project title, team name, member names and the problem statement your team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Guidance slide for participants. Delete it before presenting. Slide count, timings and permitted tools will be announced by the organizers.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problem you picked and the two or three questions your visualization will answer. Keep it to this one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dataset you were given: its size, period and key metric, then how you cleaned it. This shows the judges your Data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judges through your process in four steps, then name the tools you used. Only use tools the organizers have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your main chart. Make the title say the finding, for example "Sales peak every December", rather than just naming the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supporting charts side by side. Use different chart types where the data allows, for example a trend, a comparison and a relationship. Duplicate this slide if you need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each card with the number that proves the point, then explain it in one sentence. This is where Insight and Interpretation marks are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your demo before you present. Rehearse the four steps so the live demo runs smoothly, and keep a backup screenshot in case of technical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loop: answer the question you posed on the problem statement slide, then give actions someone could take based on your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Add your team name and member names, then invite questions from the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10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37909"/>
            <a:ext cx="10566400" cy="502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45616"/>
            <a:ext cx="10566400" cy="409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AF9F5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0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37909"/>
            <a:ext cx="10566400" cy="502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45616"/>
            <a:ext cx="10566400" cy="409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AF9F5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0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0B45"/>
              </a:gs>
              <a:gs pos="60000">
                <a:srgbClr val="2B1F96"/>
              </a:gs>
              <a:gs pos="100000">
                <a:srgbClr val="4A3CB8"/>
              </a:gs>
            </a:gsLst>
            <a:lin ang="42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6350000" y="0"/>
            <a:ext cx="5842000" cy="5842000"/>
          </a:xfrm>
          <a:prstGeom prst="roundRect">
            <a:avLst>
              <a:gd name="adj" fmla="val 27826"/>
            </a:avLst>
          </a:prstGeom>
          <a:gradFill rotWithShape="1">
            <a:gsLst>
              <a:gs pos="0">
                <a:srgbClr val="3FD8F0">
                  <a:alpha val="30000"/>
                </a:srgbClr>
              </a:gs>
              <a:gs pos="70000">
                <a:srgbClr val="3FD8F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/>
          <p:nvPr/>
        </p:nvSpPr>
        <p:spPr>
          <a:xfrm>
            <a:off x="812800" y="1587566"/>
            <a:ext cx="749030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DSBS STUDENTS ASSOCIATION SRMIST · </a:t>
            </a:r>
            <a:endParaRPr lang="en-US" sz="1400" dirty="0"/>
          </a:p>
        </p:txBody>
      </p:sp>
      <p:sp>
        <p:nvSpPr>
          <p:cNvPr id="5" name="Text 3"/>
          <p:cNvSpPr>
            <a:spLocks noGrp="1"/>
          </p:cNvSpPr>
          <p:nvPr>
            <p:ph type="title"/>
          </p:nvPr>
        </p:nvSpPr>
        <p:spPr>
          <a:xfrm>
            <a:off x="812800" y="2014273"/>
            <a:ext cx="703834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400"/>
              </a:lnSpc>
              <a:buNone/>
            </a:pPr>
            <a:r>
              <a:rPr lang="en-US" sz="8400" b="1" i="0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DATAKON'26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812800" y="3258873"/>
            <a:ext cx="1930797" cy="533400"/>
          </a:xfrm>
          <a:prstGeom prst="roundRect">
            <a:avLst>
              <a:gd name="adj" fmla="val 50000"/>
            </a:avLst>
          </a:prstGeom>
          <a:solidFill>
            <a:srgbClr val="3FD8F0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b="1" kern="0" spc="400" dirty="0">
                <a:solidFill>
                  <a:srgbClr val="0B073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DATAVIZ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12800" y="3970073"/>
            <a:ext cx="9422882" cy="528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r>
              <a:rPr lang="en-IN" sz="3600" dirty="0">
                <a:latin typeface="+mj-lt"/>
              </a:rPr>
              <a:t>SRM </a:t>
            </a:r>
            <a:r>
              <a:rPr lang="en-IN" sz="3600" dirty="0" err="1">
                <a:latin typeface="+mj-lt"/>
              </a:rPr>
              <a:t>SmartOps</a:t>
            </a:r>
            <a:r>
              <a:rPr lang="en-IN" sz="3600" dirty="0">
                <a:latin typeface="+mj-lt"/>
              </a:rPr>
              <a:t>: Data-Driven Flow &amp; Congestion Mitigation</a:t>
            </a:r>
            <a:endParaRPr lang="en-US" sz="3600" dirty="0">
              <a:latin typeface="+mj-lt"/>
            </a:endParaRPr>
          </a:p>
        </p:txBody>
      </p:sp>
      <p:sp>
        <p:nvSpPr>
          <p:cNvPr id="8" name="Text 6"/>
          <p:cNvSpPr/>
          <p:nvPr/>
        </p:nvSpPr>
        <p:spPr>
          <a:xfrm>
            <a:off x="812800" y="4650780"/>
            <a:ext cx="673639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Team: </a:t>
            </a:r>
            <a:r>
              <a:rPr lang="en-US" sz="1600" dirty="0" err="1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ShadowStack</a:t>
            </a: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| Members: Kabir Singh Chadha, Viraj Singh </a:t>
            </a:r>
            <a:r>
              <a:rPr lang="en-US" sz="1600" dirty="0" err="1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Bhadouria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12799" y="5059759"/>
            <a:ext cx="890036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Problem statement: </a:t>
            </a:r>
            <a:r>
              <a:rPr lang="en-IN" sz="1600" dirty="0"/>
              <a:t>5. CAMPUSPULSE — Smart Campus Operations Challenge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October 2026 ·  SRMIST Kattankulathur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0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0B45"/>
              </a:gs>
              <a:gs pos="60000">
                <a:srgbClr val="2B1F96"/>
              </a:gs>
              <a:gs pos="100000">
                <a:srgbClr val="4A3CB8"/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 FIRST · DELETE BEFORE PRESENTING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37907"/>
            <a:ext cx="10883392" cy="528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How to use this template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15975" y="1897989"/>
            <a:ext cx="3380317" cy="1983317"/>
          </a:xfrm>
          <a:prstGeom prst="roundRect">
            <a:avLst>
              <a:gd name="adj" fmla="val 7524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1033" y="2153047"/>
            <a:ext cx="295630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Keep the flow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71033" y="2559447"/>
            <a:ext cx="2956306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Follow the slide order: problem, dataset, approach, visuals, insights, demo, conclusion. Replace every [bracketed] text.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05842" y="1897989"/>
            <a:ext cx="3380317" cy="1983317"/>
          </a:xfrm>
          <a:prstGeom prst="roundRect">
            <a:avLst>
              <a:gd name="adj" fmla="val 7524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0900" y="2153047"/>
            <a:ext cx="295630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One chart, one message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60900" y="2559447"/>
            <a:ext cx="295630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Give each chart a title that states the finding, and add a one-line takeaway beside it.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95709" y="1897989"/>
            <a:ext cx="3380317" cy="1983317"/>
          </a:xfrm>
          <a:prstGeom prst="roundRect">
            <a:avLst>
              <a:gd name="adj" fmla="val 7524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50767" y="2153047"/>
            <a:ext cx="295630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Demo-ready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250767" y="2559447"/>
            <a:ext cx="295630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the slides to tell the story, then switch to your final visualization for the live demo.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2800" y="4144831"/>
            <a:ext cx="10566400" cy="0"/>
          </a:xfrm>
          <a:prstGeom prst="line">
            <a:avLst/>
          </a:prstGeom>
          <a:noFill/>
          <a:ln w="12700">
            <a:solidFill>
              <a:srgbClr val="3FD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2800" y="4303581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Judging criteria (100 marks)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603287"/>
            <a:ext cx="1088339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Understanding 15 · Visualization Quality 20 · Interactivity 15 · Insight &amp; Interpretation 20 · Technical Implementation 10 · Creativity 10 · PPT &amp; Demo 10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DATAKON'26 · DATAVIZ · DSBS, SRMIST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0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0B45"/>
              </a:gs>
              <a:gs pos="60000">
                <a:srgbClr val="2B1F96"/>
              </a:gs>
              <a:gs pos="100000">
                <a:srgbClr val="4A3CB8"/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SETUP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37907"/>
            <a:ext cx="10883392" cy="528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Problem statement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15975" y="1897990"/>
            <a:ext cx="5175250" cy="3940837"/>
          </a:xfrm>
          <a:prstGeom prst="roundRect">
            <a:avLst>
              <a:gd name="adj" fmla="val 3787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1033" y="2153047"/>
            <a:ext cx="480508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The problem we chose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01056" y="2400115"/>
            <a:ext cx="4805087" cy="1748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endParaRPr lang="en-IN" sz="1600" b="1" u="sng" dirty="0"/>
          </a:p>
          <a:p>
            <a:r>
              <a:rPr lang="en-IN" sz="1600" b="1" u="sng" dirty="0"/>
              <a:t>Problem Statement:</a:t>
            </a:r>
          </a:p>
          <a:p>
            <a:endParaRPr lang="en-IN" sz="1600" b="1" u="sng" dirty="0"/>
          </a:p>
          <a:p>
            <a:r>
              <a:rPr lang="en-IN" sz="1600" dirty="0"/>
              <a:t>Modern university campuses face operational bottlenecks where peak class transitions cause severe congestion across food courts, gate entry points, and transit networks. Using the </a:t>
            </a:r>
            <a:r>
              <a:rPr lang="en-IN" sz="1600" dirty="0" err="1"/>
              <a:t>CampusPulse</a:t>
            </a:r>
            <a:r>
              <a:rPr lang="en-IN" sz="1600" dirty="0"/>
              <a:t> dataset of 12,000 logs, we </a:t>
            </a:r>
            <a:r>
              <a:rPr lang="en-IN" sz="1600" dirty="0" err="1"/>
              <a:t>analyze</a:t>
            </a:r>
            <a:r>
              <a:rPr lang="en-IN" sz="1600" dirty="0"/>
              <a:t> these spatial-temporal bottlenecks to transform raw sensor data into actionable mobility engineering decisions.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7273" y="4213444"/>
            <a:ext cx="5053952" cy="14457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u="sng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Why does it matter? Who benefits from the answer?</a:t>
            </a:r>
          </a:p>
          <a:p>
            <a:pPr marL="0" indent="0" algn="l">
              <a:lnSpc>
                <a:spcPts val="2100"/>
              </a:lnSpc>
              <a:buNone/>
            </a:pPr>
            <a:endParaRPr lang="en-US" sz="1500" b="1" u="sng" dirty="0">
              <a:solidFill>
                <a:srgbClr val="E4E0FF"/>
              </a:solidFill>
              <a:latin typeface="DM Sans" pitchFamily="34" charset="0"/>
              <a:ea typeface="DM Sans" pitchFamily="34" charset="-122"/>
              <a:cs typeface="DM Sans" pitchFamily="34" charset="-120"/>
            </a:endParaRPr>
          </a:p>
          <a:p>
            <a:r>
              <a:rPr lang="en-IN" sz="1600" dirty="0"/>
              <a:t>Resolving these operational bottlenecks directly improves daily student satisfaction, reduces campus transit wait times by over 40%, and provides university management with data-backed decisions for smart infrastructure resource allocation. 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00775" y="1897990"/>
            <a:ext cx="5175250" cy="3940837"/>
          </a:xfrm>
          <a:prstGeom prst="roundRect">
            <a:avLst>
              <a:gd name="adj" fmla="val 3787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55833" y="2153047"/>
            <a:ext cx="480508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Questions we answer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95389" y="2559447"/>
            <a:ext cx="4757912" cy="30997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/>
            <a:r>
              <a:rPr lang="en-IN" sz="1600" b="1" dirty="0"/>
              <a:t>Where and when do critical campus congestion hotspots peak, and what are their primary drivers?</a:t>
            </a:r>
          </a:p>
          <a:p>
            <a:pPr lvl="0"/>
            <a:endParaRPr lang="en-IN" sz="1600" dirty="0"/>
          </a:p>
          <a:p>
            <a:pPr lvl="0"/>
            <a:r>
              <a:rPr lang="en-IN" sz="1600" b="1" dirty="0"/>
              <a:t>How severely do canteen order bottlenecks and shuttle fleet overcapacity impact overall student satisfaction?</a:t>
            </a:r>
          </a:p>
          <a:p>
            <a:pPr lvl="0"/>
            <a:endParaRPr lang="en-IN" sz="1600" dirty="0"/>
          </a:p>
          <a:p>
            <a:pPr lvl="0"/>
            <a:r>
              <a:rPr lang="en-IN" sz="1600" b="1" dirty="0"/>
              <a:t>If given responsibility for university operations, what three data-driven changes would optimize campus efficiency, and how do we prove their impact?</a:t>
            </a:r>
            <a:endParaRPr lang="en-IN" sz="16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DATAKON'26 · DATAVIZ · DSBS, SRMIST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0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0B45"/>
              </a:gs>
              <a:gs pos="60000">
                <a:srgbClr val="2B1F96"/>
              </a:gs>
              <a:gs pos="100000">
                <a:srgbClr val="4A3CB8"/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SETUP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37907"/>
            <a:ext cx="10883392" cy="528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Dataset overview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15975" y="1897990"/>
            <a:ext cx="2482850" cy="1261930"/>
          </a:xfrm>
          <a:prstGeom prst="roundRect">
            <a:avLst>
              <a:gd name="adj" fmla="val 11825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5633" y="2127647"/>
            <a:ext cx="2084239" cy="528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[___]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045633" y="2681354"/>
            <a:ext cx="2084239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Rows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08375" y="1897990"/>
            <a:ext cx="2482850" cy="1261930"/>
          </a:xfrm>
          <a:prstGeom prst="roundRect">
            <a:avLst>
              <a:gd name="adj" fmla="val 11825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38033" y="2127647"/>
            <a:ext cx="2084239" cy="528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[___]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738033" y="2681354"/>
            <a:ext cx="2084239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Columns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897990"/>
            <a:ext cx="2482850" cy="1261930"/>
          </a:xfrm>
          <a:prstGeom prst="roundRect">
            <a:avLst>
              <a:gd name="adj" fmla="val 11825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0433" y="2127647"/>
            <a:ext cx="2084239" cy="528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[___]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430433" y="2681354"/>
            <a:ext cx="2084239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Time period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893175" y="1897990"/>
            <a:ext cx="2482850" cy="1261930"/>
          </a:xfrm>
          <a:prstGeom prst="roundRect">
            <a:avLst>
              <a:gd name="adj" fmla="val 11825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22834" y="2127647"/>
            <a:ext cx="2084239" cy="528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[___]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9122834" y="2681354"/>
            <a:ext cx="2084239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Key metric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5975" y="3420269"/>
            <a:ext cx="10560050" cy="1773767"/>
          </a:xfrm>
          <a:prstGeom prst="roundRect">
            <a:avLst>
              <a:gd name="adj" fmla="val 8413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1033" y="3675328"/>
            <a:ext cx="10351432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Cleaning and preparation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42153" y="4081728"/>
            <a:ext cx="1027269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[Missing values and duplicates: how you handled them]</a:t>
            </a:r>
            <a:endParaRPr lang="en-US" sz="1500" dirty="0"/>
          </a:p>
          <a:p>
            <a:pPr marL="182880" indent="-1828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[Columns you created or transformed]</a:t>
            </a:r>
            <a:endParaRPr lang="en-US" sz="1500" dirty="0"/>
          </a:p>
          <a:p>
            <a:pPr marL="182880" indent="-1828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[Filters or aggregations applied before charting]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DATAKON'26 · DATAVIZ · DSBS, SRMIST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0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0B45"/>
              </a:gs>
              <a:gs pos="60000">
                <a:srgbClr val="2B1F96"/>
              </a:gs>
              <a:gs pos="100000">
                <a:srgbClr val="4A3CB8"/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ANALYSIS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37909"/>
            <a:ext cx="10883392" cy="528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Approach and tools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15975" y="1897990"/>
            <a:ext cx="2482850" cy="1861344"/>
          </a:xfrm>
          <a:prstGeom prst="roundRect">
            <a:avLst>
              <a:gd name="adj" fmla="val 8017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5633" y="2127647"/>
            <a:ext cx="2084239" cy="472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45633" y="2650861"/>
            <a:ext cx="208423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Clean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45633" y="3031861"/>
            <a:ext cx="2084239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[What you fixed or removed]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08375" y="1897990"/>
            <a:ext cx="2482850" cy="1861344"/>
          </a:xfrm>
          <a:prstGeom prst="roundRect">
            <a:avLst>
              <a:gd name="adj" fmla="val 8017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38033" y="2127647"/>
            <a:ext cx="2084239" cy="472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738033" y="2650861"/>
            <a:ext cx="208423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Explore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38033" y="3031861"/>
            <a:ext cx="2084239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[Patterns you checked first]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00775" y="1897990"/>
            <a:ext cx="2482850" cy="1861344"/>
          </a:xfrm>
          <a:prstGeom prst="roundRect">
            <a:avLst>
              <a:gd name="adj" fmla="val 8017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0433" y="2127647"/>
            <a:ext cx="2084239" cy="472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430433" y="2650861"/>
            <a:ext cx="208423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Visualize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30433" y="3031861"/>
            <a:ext cx="2084239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[Charts you chose and why]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93175" y="1897990"/>
            <a:ext cx="2482850" cy="1861344"/>
          </a:xfrm>
          <a:prstGeom prst="roundRect">
            <a:avLst>
              <a:gd name="adj" fmla="val 8017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22834" y="2127647"/>
            <a:ext cx="2084239" cy="472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04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9122834" y="2650861"/>
            <a:ext cx="208423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Interpret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122834" y="3031861"/>
            <a:ext cx="2084239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[How you turned charts into findings]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5975" y="4019683"/>
            <a:ext cx="10560050" cy="1107017"/>
          </a:xfrm>
          <a:prstGeom prst="roundRect">
            <a:avLst>
              <a:gd name="adj" fmla="val 13480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1033" y="4249341"/>
            <a:ext cx="10351432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Tools used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71033" y="4630341"/>
            <a:ext cx="1035143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[List the tools approved by the organizers that you used]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DATAKON'26 · DATAVIZ · DSBS, SRMIST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0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0B45"/>
              </a:gs>
              <a:gs pos="60000">
                <a:srgbClr val="2B1F96"/>
              </a:gs>
              <a:gs pos="100000">
                <a:srgbClr val="4A3CB8"/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ANALYSIS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37909"/>
            <a:ext cx="10883392" cy="528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Visualization 1: [Finding as title]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22325" y="1904340"/>
            <a:ext cx="6788150" cy="3928137"/>
          </a:xfrm>
          <a:prstGeom prst="roundRect">
            <a:avLst>
              <a:gd name="adj" fmla="val 3637"/>
            </a:avLst>
          </a:prstGeom>
          <a:solidFill>
            <a:srgbClr val="FFFFFF">
              <a:alpha val="5000"/>
            </a:srgbClr>
          </a:solidFill>
          <a:ln w="19050">
            <a:solidFill>
              <a:srgbClr val="3FD8F0"/>
            </a:solidFill>
            <a:prstDash val="dash"/>
          </a:ln>
        </p:spPr>
        <p:txBody>
          <a:bodyPr wrap="square" lIns="219562" tIns="219562" rIns="219562" bIns="219562" rtlCol="0" anchor="ctr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[Insert your chart or screenshot here]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26375" y="1897990"/>
            <a:ext cx="3549650" cy="3940837"/>
          </a:xfrm>
          <a:prstGeom prst="roundRect">
            <a:avLst>
              <a:gd name="adj" fmla="val 4204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81434" y="2153047"/>
            <a:ext cx="313071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What it shows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152554" y="2559447"/>
            <a:ext cx="3051979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[Trend, comparison or relationship]</a:t>
            </a:r>
            <a:endParaRPr lang="en-US" sz="1500" dirty="0"/>
          </a:p>
          <a:p>
            <a:pPr marL="182880" indent="-1828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[Key number to remember]</a:t>
            </a:r>
            <a:endParaRPr lang="en-US" sz="1500" dirty="0"/>
          </a:p>
          <a:p>
            <a:pPr marL="182880" indent="-1828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[Why this chart type fits]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DATAKON'26 · DATAVIZ · DSBS, SRMIST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0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0B45"/>
              </a:gs>
              <a:gs pos="60000">
                <a:srgbClr val="2B1F96"/>
              </a:gs>
              <a:gs pos="100000">
                <a:srgbClr val="4A3CB8"/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ANALYSIS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37909"/>
            <a:ext cx="10883392" cy="528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Visualizations 2 and 3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22325" y="1904340"/>
            <a:ext cx="5162550" cy="3534437"/>
          </a:xfrm>
          <a:prstGeom prst="roundRect">
            <a:avLst>
              <a:gd name="adj" fmla="val 4042"/>
            </a:avLst>
          </a:prstGeom>
          <a:solidFill>
            <a:srgbClr val="FFFFFF">
              <a:alpha val="5000"/>
            </a:srgbClr>
          </a:solidFill>
          <a:ln w="19050">
            <a:solidFill>
              <a:srgbClr val="3FD8F0"/>
            </a:solidFill>
            <a:prstDash val="dash"/>
          </a:ln>
        </p:spPr>
        <p:txBody>
          <a:bodyPr wrap="square" lIns="168762" tIns="168762" rIns="168762" bIns="168762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[Insert chart 2 here]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5575300"/>
            <a:ext cx="53370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[One-line takeaway for chart 2]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207125" y="1904340"/>
            <a:ext cx="5162550" cy="3534437"/>
          </a:xfrm>
          <a:prstGeom prst="roundRect">
            <a:avLst>
              <a:gd name="adj" fmla="val 4042"/>
            </a:avLst>
          </a:prstGeom>
          <a:solidFill>
            <a:srgbClr val="FFFFFF">
              <a:alpha val="5000"/>
            </a:srgbClr>
          </a:solidFill>
          <a:ln w="19050">
            <a:solidFill>
              <a:srgbClr val="3FD8F0"/>
            </a:solidFill>
            <a:prstDash val="dash"/>
          </a:ln>
        </p:spPr>
        <p:txBody>
          <a:bodyPr wrap="square" lIns="168762" tIns="168762" rIns="168762" bIns="168762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[Insert chart 3 here]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97600" y="5575300"/>
            <a:ext cx="53370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[One-line takeaway for chart 3]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DATAKON'26 · DATAVIZ · DSBS, SRMIST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0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0B45"/>
              </a:gs>
              <a:gs pos="60000">
                <a:srgbClr val="2B1F96"/>
              </a:gs>
              <a:gs pos="100000">
                <a:srgbClr val="4A3CB8"/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ANALYSIS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37909"/>
            <a:ext cx="10883392" cy="528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Key insights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15975" y="1897990"/>
            <a:ext cx="3380317" cy="3940837"/>
          </a:xfrm>
          <a:prstGeom prst="roundRect">
            <a:avLst>
              <a:gd name="adj" fmla="val 4415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1033" y="2153047"/>
            <a:ext cx="2956306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[__%]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071033" y="2925167"/>
            <a:ext cx="295630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Insight 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1033" y="3331567"/>
            <a:ext cx="295630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[State the finding and what it means]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05842" y="1897990"/>
            <a:ext cx="3380317" cy="3940837"/>
          </a:xfrm>
          <a:prstGeom prst="roundRect">
            <a:avLst>
              <a:gd name="adj" fmla="val 4415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0900" y="2153047"/>
            <a:ext cx="2956306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[__x]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660900" y="2925167"/>
            <a:ext cx="295630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Insight 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0900" y="3331567"/>
            <a:ext cx="295630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[State the finding and what it means]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95709" y="1897990"/>
            <a:ext cx="3380317" cy="3940837"/>
          </a:xfrm>
          <a:prstGeom prst="roundRect">
            <a:avLst>
              <a:gd name="adj" fmla="val 4415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50767" y="2153047"/>
            <a:ext cx="2956306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[___]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8250767" y="2925167"/>
            <a:ext cx="295630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Insight 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50767" y="3331567"/>
            <a:ext cx="295630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[State the finding and what it means]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DATAKON'26 · DATAVIZ · DSBS, SRMIST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0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0B45"/>
              </a:gs>
              <a:gs pos="60000">
                <a:srgbClr val="2B1F96"/>
              </a:gs>
              <a:gs pos="100000">
                <a:srgbClr val="4A3CB8"/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37909"/>
            <a:ext cx="10883392" cy="528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Interactivity and demo plan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15975" y="1897993"/>
            <a:ext cx="5175250" cy="3940837"/>
          </a:xfrm>
          <a:prstGeom prst="roundRect">
            <a:avLst>
              <a:gd name="adj" fmla="val 3787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1033" y="2153047"/>
            <a:ext cx="480508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Interactive features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35041" y="2559447"/>
            <a:ext cx="4733459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9992" indent="-189992" algn="l">
              <a:lnSpc>
                <a:spcPts val="2400"/>
              </a:lnSpc>
              <a:buSzPct val="100000"/>
              <a:buChar char="•"/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Filters: [what users can filter]</a:t>
            </a:r>
            <a:endParaRPr lang="en-US" sz="1600" dirty="0"/>
          </a:p>
          <a:p>
            <a:pPr marL="189992" indent="-189992" algn="l">
              <a:lnSpc>
                <a:spcPts val="2400"/>
              </a:lnSpc>
              <a:buSzPct val="100000"/>
              <a:buChar char="•"/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Drill-downs: [what opens on click]</a:t>
            </a:r>
            <a:endParaRPr lang="en-US" sz="1600" dirty="0"/>
          </a:p>
          <a:p>
            <a:pPr marL="189992" indent="-189992" algn="l">
              <a:lnSpc>
                <a:spcPts val="2400"/>
              </a:lnSpc>
              <a:buSzPct val="100000"/>
              <a:buChar char="•"/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Dynamic elements: [tooltips, toggles, sliders]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00775" y="1897993"/>
            <a:ext cx="5175250" cy="3940837"/>
          </a:xfrm>
          <a:prstGeom prst="roundRect">
            <a:avLst>
              <a:gd name="adj" fmla="val 3787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5833" y="2153047"/>
            <a:ext cx="480508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Demo flow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92148" y="2559447"/>
            <a:ext cx="4761153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7686" indent="-217686" algn="l">
              <a:lnSpc>
                <a:spcPts val="2400"/>
              </a:lnSpc>
              <a:buSzPct val="100000"/>
              <a:buFontTx/>
              <a:buAutoNum type="arabicPeriod"/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the final visualization</a:t>
            </a:r>
            <a:endParaRPr lang="en-US" sz="1600" dirty="0"/>
          </a:p>
          <a:p>
            <a:pPr marL="217686" indent="-217686" algn="l">
              <a:lnSpc>
                <a:spcPts val="2400"/>
              </a:lnSpc>
              <a:buSzPct val="100000"/>
              <a:buFontTx/>
              <a:buAutoNum type="arabicPeriod"/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Apply a filter: [which one]</a:t>
            </a:r>
            <a:endParaRPr lang="en-US" sz="1600" dirty="0"/>
          </a:p>
          <a:p>
            <a:pPr marL="217686" indent="-217686" algn="l">
              <a:lnSpc>
                <a:spcPts val="2400"/>
              </a:lnSpc>
              <a:buSzPct val="100000"/>
              <a:buFontTx/>
              <a:buAutoNum type="arabicPeriod"/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Drill into: [which chart]</a:t>
            </a:r>
            <a:endParaRPr lang="en-US" sz="1600" dirty="0"/>
          </a:p>
          <a:p>
            <a:pPr marL="217686" indent="-217686" algn="l">
              <a:lnSpc>
                <a:spcPts val="2400"/>
              </a:lnSpc>
              <a:buSzPct val="100000"/>
              <a:buFontTx/>
              <a:buAutoNum type="arabicPeriod"/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Show the key insight live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DATAKON'26 · DATAVIZ · DSBS, SRMIST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0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0B45"/>
              </a:gs>
              <a:gs pos="60000">
                <a:srgbClr val="2B1F96"/>
              </a:gs>
              <a:gs pos="100000">
                <a:srgbClr val="4A3CB8"/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WRAP-UP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37909"/>
            <a:ext cx="10883392" cy="528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Conclusion and recommendations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15975" y="1897993"/>
            <a:ext cx="5175250" cy="3940837"/>
          </a:xfrm>
          <a:prstGeom prst="roundRect">
            <a:avLst>
              <a:gd name="adj" fmla="val 3787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1033" y="2153047"/>
            <a:ext cx="480508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What we found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71033" y="2559447"/>
            <a:ext cx="4805087" cy="594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[Answer the problem statement in two or three sentences.]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1033" y="3229905"/>
            <a:ext cx="480508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[Limits of the data or analysis, if any.]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00775" y="1897993"/>
            <a:ext cx="5175250" cy="3940837"/>
          </a:xfrm>
          <a:prstGeom prst="roundRect">
            <a:avLst>
              <a:gd name="adj" fmla="val 3787"/>
            </a:avLst>
          </a:prstGeom>
          <a:solidFill>
            <a:srgbClr val="FFFFFF">
              <a:alpha val="9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55833" y="2153047"/>
            <a:ext cx="480508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FD8F0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What to do next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95389" y="2559447"/>
            <a:ext cx="4757912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4445" indent="-214445" algn="l">
              <a:lnSpc>
                <a:spcPts val="2400"/>
              </a:lnSpc>
              <a:buSzPct val="100000"/>
              <a:buFontTx/>
              <a:buAutoNum type="arabicPeriod"/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[Recommendation 1]</a:t>
            </a:r>
            <a:endParaRPr lang="en-US" sz="1600" dirty="0"/>
          </a:p>
          <a:p>
            <a:pPr marL="214445" indent="-214445" algn="l">
              <a:lnSpc>
                <a:spcPts val="2400"/>
              </a:lnSpc>
              <a:buSzPct val="100000"/>
              <a:buFontTx/>
              <a:buAutoNum type="arabicPeriod"/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[Recommendation 2]</a:t>
            </a:r>
            <a:endParaRPr lang="en-US" sz="1600" dirty="0"/>
          </a:p>
          <a:p>
            <a:pPr marL="214445" indent="-214445" algn="l">
              <a:lnSpc>
                <a:spcPts val="2400"/>
              </a:lnSpc>
              <a:buSzPct val="100000"/>
              <a:buFontTx/>
              <a:buAutoNum type="arabicPeriod"/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[Recommendation 3]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DATAKON'26 · DATAVIZ · DSBS, SRMIST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0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0B45"/>
              </a:gs>
              <a:gs pos="60000">
                <a:srgbClr val="2B1F96"/>
              </a:gs>
              <a:gs pos="100000">
                <a:srgbClr val="4A3CB8"/>
              </a:gs>
            </a:gsLst>
            <a:lin ang="42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6350000" y="0"/>
            <a:ext cx="5842000" cy="5842000"/>
          </a:xfrm>
          <a:prstGeom prst="roundRect">
            <a:avLst>
              <a:gd name="adj" fmla="val 27826"/>
            </a:avLst>
          </a:prstGeom>
          <a:gradFill rotWithShape="1">
            <a:gsLst>
              <a:gs pos="0">
                <a:srgbClr val="3FD8F0">
                  <a:alpha val="30000"/>
                </a:srgbClr>
              </a:gs>
              <a:gs pos="70000">
                <a:srgbClr val="3FD8F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/>
          <p:nvPr/>
        </p:nvSpPr>
        <p:spPr>
          <a:xfrm>
            <a:off x="812800" y="1927889"/>
            <a:ext cx="290941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3FD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DATAKON'26 · DATAVIZ</a:t>
            </a:r>
            <a:endParaRPr lang="en-US" sz="1400" dirty="0"/>
          </a:p>
        </p:txBody>
      </p:sp>
      <p:sp>
        <p:nvSpPr>
          <p:cNvPr id="5" name="Text 3"/>
          <p:cNvSpPr>
            <a:spLocks noGrp="1"/>
          </p:cNvSpPr>
          <p:nvPr>
            <p:ph type="title"/>
          </p:nvPr>
        </p:nvSpPr>
        <p:spPr>
          <a:xfrm>
            <a:off x="812800" y="2354597"/>
            <a:ext cx="55372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400"/>
              </a:lnSpc>
              <a:buNone/>
            </a:pPr>
            <a:r>
              <a:rPr lang="en-US" sz="8400" b="1" i="0" dirty="0">
                <a:solidFill>
                  <a:srgbClr val="F7F5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Thank you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812800" y="3599197"/>
            <a:ext cx="2634787" cy="533400"/>
          </a:xfrm>
          <a:prstGeom prst="roundRect">
            <a:avLst>
              <a:gd name="adj" fmla="val 50000"/>
            </a:avLst>
          </a:prstGeom>
          <a:solidFill>
            <a:srgbClr val="3FD8F0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b="1" kern="0" spc="400" dirty="0">
                <a:solidFill>
                  <a:srgbClr val="0B073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12800" y="4310397"/>
            <a:ext cx="286800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Team: [Team name]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12800" y="4645620"/>
            <a:ext cx="334137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E4E0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[Name 1] · [Name 2] · [Name 3]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DSBS Students Association · SRMIST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DAD5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taViz Sample PPT Template">
  <a:themeElements>
    <a:clrScheme name="DataViz Sample PPT Template">
      <a:dk1>
        <a:srgbClr val="110B45"/>
      </a:dk1>
      <a:lt1>
        <a:srgbClr val="FAF9F5"/>
      </a:lt1>
      <a:dk2>
        <a:srgbClr val="282357"/>
      </a:dk2>
      <a:lt2>
        <a:srgbClr val="C0BEC9"/>
      </a:lt2>
      <a:accent1>
        <a:srgbClr val="3FD8F0"/>
      </a:accent1>
      <a:accent2>
        <a:srgbClr val="DAD5FF"/>
      </a:accent2>
      <a:accent3>
        <a:srgbClr val="2B1F96"/>
      </a:accent3>
      <a:accent4>
        <a:srgbClr val="4A3CB8"/>
      </a:accent4>
      <a:accent5>
        <a:srgbClr val="E4E0FF"/>
      </a:accent5>
      <a:accent6>
        <a:srgbClr val="9AA0A6"/>
      </a:accent6>
      <a:hlink>
        <a:srgbClr val="0563C1"/>
      </a:hlink>
      <a:folHlink>
        <a:srgbClr val="954F72"/>
      </a:folHlink>
    </a:clrScheme>
    <a:fontScheme name="DataViz Sample PPT Template">
      <a:majorFont>
        <a:latin typeface="Fredok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1045</Words>
  <Application>Microsoft Office PowerPoint</Application>
  <PresentationFormat>Widescreen</PresentationFormat>
  <Paragraphs>154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DM Sans</vt:lpstr>
      <vt:lpstr>Fredoka</vt:lpstr>
      <vt:lpstr>DataViz Sample PPT Template</vt:lpstr>
      <vt:lpstr>DATAKON'26</vt:lpstr>
      <vt:lpstr>How to use this template</vt:lpstr>
      <vt:lpstr>Problem statement</vt:lpstr>
      <vt:lpstr>Dataset overview</vt:lpstr>
      <vt:lpstr>Approach and tools</vt:lpstr>
      <vt:lpstr>Visualization 1: [Finding as title]</vt:lpstr>
      <vt:lpstr>Visualizations 2 and 3</vt:lpstr>
      <vt:lpstr>Key insights</vt:lpstr>
      <vt:lpstr>Interactivity and demo plan</vt:lpstr>
      <vt:lpstr>Conclusion and recommendations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DataViz Sample PPT Template</dc:title>
  <dc:subject/>
  <dc:creator/>
  <cp:lastModifiedBy>chadhakabir88@outlook.com</cp:lastModifiedBy>
  <cp:revision>3</cp:revision>
  <dcterms:created xsi:type="dcterms:W3CDTF">2026-10-07T05:41:39Z</dcterms:created>
  <dcterms:modified xsi:type="dcterms:W3CDTF">2026-10-08T07:04:14Z</dcterms:modified>
</cp:coreProperties>
</file>