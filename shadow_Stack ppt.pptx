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23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problem we chose: CampusPulse, smart campus operations at SRMIST.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problem and the three questions the dashboard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12,000 rows, 20 columns, 15-minute intervals from 08:00 to 18:00 across weekdays and weekends. Key metrics: Student_Satisfaction, Congestion_Level, Shuttle_Occupancy_Pct, Canteen_Queue_Length.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steps: clean, explore, visualize, interpret. Correlations found: r = -0.841 (canteen queue vs satisfaction) and r = +0.838 (shuttle occupancy vs wait). Interventions: Ghost Kitchen Lockers, Predictive Fleet Balancing, Weather-Adaptive Micro-Staggering.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 chart: hourly canteen queue and service time. Right chart: queue length against satisfaction. Satisfaction hits the floor of 1.0 beyond about 150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hourly shuttle demand vs the 50-seat capacity, and wait time by zone. Right: vehicle count vs wait time. The trendlines are flat, so waits do not rise with vehicle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number per card: 36.9% of critical incidents, 139% shuttle occupancy, about 11 minute rainy-day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Rehearse the four steps. Keep a backup screenshot of the gauge chart in case the live app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Answer the problem statement, then the three recommendations. Close with the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 from the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45616"/>
            <a:ext cx="10566400" cy="409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45616"/>
            <a:ext cx="10566400" cy="409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AF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350000" y="0"/>
            <a:ext cx="5842000" cy="5842000"/>
          </a:xfrm>
          <a:prstGeom prst="roundRect">
            <a:avLst>
              <a:gd name="adj" fmla="val 27826"/>
            </a:avLst>
          </a:prstGeom>
          <a:gradFill rotWithShape="1">
            <a:gsLst>
              <a:gs pos="0">
                <a:srgbClr val="3FD8F0">
                  <a:alpha val="30000"/>
                </a:srgbClr>
              </a:gs>
              <a:gs pos="70000">
                <a:srgbClr val="3FD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800" y="1587566"/>
            <a:ext cx="749030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DSBS STUDENTS ASSOCIATION SRMIST · </a:t>
            </a:r>
            <a:endParaRPr lang="en-US" sz="14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014273"/>
            <a:ext cx="703834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4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DATAKON'26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12800" y="3258873"/>
            <a:ext cx="1930797" cy="533400"/>
          </a:xfrm>
          <a:prstGeom prst="roundRect">
            <a:avLst>
              <a:gd name="adj" fmla="val 50000"/>
            </a:avLst>
          </a:prstGeom>
          <a:solidFill>
            <a:srgbClr val="3FD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kern="0" spc="400" dirty="0">
                <a:solidFill>
                  <a:srgbClr val="0B07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DATAVIZ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3970073"/>
            <a:ext cx="10607040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CampusPulse: Smart Campus Operations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12800" y="4650780"/>
            <a:ext cx="1060704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Team: ShadowStack | Members: Kabir Singh Chadha, Viraj Singh Bhadouria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799" y="5059759"/>
            <a:ext cx="1060704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statement: Problem 5: CAMPUSPULSE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October 2026 ·  SRMIST Kattankulathur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SETUP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7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90"/>
            <a:ext cx="5175250" cy="3940837"/>
          </a:xfrm>
          <a:prstGeom prst="roundRect">
            <a:avLst>
              <a:gd name="adj" fmla="val 378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1033" y="215304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The problem we chose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1056" y="2400115"/>
            <a:ext cx="480508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SRMIST faces severe operational bottlenecks during class transition windows (08:00–18:00), spanning canteen queue inflation, transit shuttle overcapacity and gate vehicle gridlock.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7273" y="3977639"/>
            <a:ext cx="50539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matters: </a:t>
            </a: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peak canteen queues exceed 158 students and shuttle occupancy hits 139% overcapacity, driving student satisfaction to critical lows (r = −0.841 with queue length).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1897990"/>
            <a:ext cx="5175250" cy="3940837"/>
          </a:xfrm>
          <a:prstGeom prst="roundRect">
            <a:avLst>
              <a:gd name="adj" fmla="val 378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55833" y="215304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Questions we answer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5389" y="2559447"/>
            <a:ext cx="47579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4445" indent="-214445" algn="l">
              <a:lnSpc>
                <a:spcPts val="2250"/>
              </a:lnSpc>
              <a:spcAft>
                <a:spcPts val="1000"/>
              </a:spcAft>
              <a:buSzPct val="100000"/>
              <a:buFontTx/>
              <a:buAutoNum type="arabicPeriod"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primary operational bottlenecks drive 67%+ of critical campus congestion incidents?</a:t>
            </a:r>
            <a:endParaRPr lang="en-US" sz="1500" dirty="0"/>
          </a:p>
          <a:p>
            <a:pPr marL="214445" indent="-214445" algn="l">
              <a:lnSpc>
                <a:spcPts val="2250"/>
              </a:lnSpc>
              <a:spcAft>
                <a:spcPts val="1000"/>
              </a:spcAft>
              <a:buSzPct val="100000"/>
              <a:buFontTx/>
              <a:buAutoNum type="arabicPeriod"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can dynamic resource reallocation eliminate transit deficits without buying new shuttles?</a:t>
            </a:r>
            <a:endParaRPr lang="en-US" sz="1500" dirty="0"/>
          </a:p>
          <a:p>
            <a:pPr marL="214445" indent="-214445" algn="l">
              <a:lnSpc>
                <a:spcPts val="2250"/>
              </a:lnSpc>
              <a:spcAft>
                <a:spcPts val="1000"/>
              </a:spcAft>
              <a:buSzPct val="100000"/>
              <a:buFontTx/>
              <a:buAutoNum type="arabicPeriod"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three data-driven interventions will restore campus satisfaction above 3.5/5.0?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SETUP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7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90"/>
            <a:ext cx="2482850" cy="1261930"/>
          </a:xfrm>
          <a:prstGeom prst="roundRect">
            <a:avLst>
              <a:gd name="adj" fmla="val 1182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45633" y="2127647"/>
            <a:ext cx="2084239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12,000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45633" y="2681354"/>
            <a:ext cx="208423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08375" y="1897990"/>
            <a:ext cx="2482850" cy="1261930"/>
          </a:xfrm>
          <a:prstGeom prst="roundRect">
            <a:avLst>
              <a:gd name="adj" fmla="val 1182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738033" y="2127647"/>
            <a:ext cx="2084239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38033" y="2681354"/>
            <a:ext cx="208423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0775" y="1897990"/>
            <a:ext cx="2482850" cy="1261930"/>
          </a:xfrm>
          <a:prstGeom prst="roundRect">
            <a:avLst>
              <a:gd name="adj" fmla="val 1182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25657" y="2231761"/>
            <a:ext cx="2293790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08:00–18:00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30433" y="2681354"/>
            <a:ext cx="208423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period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93175" y="1897990"/>
            <a:ext cx="2482850" cy="1261930"/>
          </a:xfrm>
          <a:prstGeom prst="roundRect">
            <a:avLst>
              <a:gd name="adj" fmla="val 1182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018312" y="2201039"/>
            <a:ext cx="2360888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Satisfaction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22834" y="2681354"/>
            <a:ext cx="208423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metric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5975" y="3420269"/>
            <a:ext cx="10560050" cy="2423160"/>
          </a:xfrm>
          <a:prstGeom prst="roundRect">
            <a:avLst>
              <a:gd name="adj" fmla="val 8413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71033" y="3497348"/>
            <a:ext cx="103514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Cleaning and preparation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4878" y="4041648"/>
            <a:ext cx="106404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82880" indent="-182880" algn="l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values and duplicates: </a:t>
            </a: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96 missing Weather records with the mode ('Clear'), 120 Student_Satisfaction and 72 Vehicle_Count nulls with the median; 0 duplicate records found.</a:t>
            </a:r>
            <a:endParaRPr lang="en-US" sz="1400" dirty="0"/>
          </a:p>
          <a:p>
            <a:pPr marL="182880" indent="-182880" algn="l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Columns created or transformed: </a:t>
            </a: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extracted Hour, Minute and Decimal_Time; calculated Shuttle_Deficit = Shuttle_Demand − Shuttle_Capacity.</a:t>
            </a:r>
            <a:endParaRPr lang="en-US" sz="1400" dirty="0"/>
          </a:p>
          <a:p>
            <a:pPr marL="182880" indent="-182880" algn="l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Filters or aggregations applied before charting: </a:t>
            </a: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15-minute slot logs grouped into hourly zone operational indices.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Approach and tools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90"/>
            <a:ext cx="2482850" cy="1861344"/>
          </a:xfrm>
          <a:prstGeom prst="roundRect">
            <a:avLst>
              <a:gd name="adj" fmla="val 801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45633" y="2127647"/>
            <a:ext cx="2084239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45633" y="2650861"/>
            <a:ext cx="20842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Clean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5633" y="3031861"/>
            <a:ext cx="2084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nulls; parsed times into Hour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08375" y="1897990"/>
            <a:ext cx="2482850" cy="1861344"/>
          </a:xfrm>
          <a:prstGeom prst="roundRect">
            <a:avLst>
              <a:gd name="adj" fmla="val 801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38033" y="2127647"/>
            <a:ext cx="2084239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738033" y="2650861"/>
            <a:ext cx="20842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Explore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38033" y="3031861"/>
            <a:ext cx="2084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Footfalls, correlations, peak spikes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0775" y="1897990"/>
            <a:ext cx="2482850" cy="1861344"/>
          </a:xfrm>
          <a:prstGeom prst="roundRect">
            <a:avLst>
              <a:gd name="adj" fmla="val 801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30433" y="2127647"/>
            <a:ext cx="2084239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30433" y="2650861"/>
            <a:ext cx="20842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Visualize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30433" y="3031861"/>
            <a:ext cx="2084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Bars, scatter trendlines, Sankey, gauge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93175" y="1897990"/>
            <a:ext cx="2482850" cy="1861344"/>
          </a:xfrm>
          <a:prstGeom prst="roundRect">
            <a:avLst>
              <a:gd name="adj" fmla="val 801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22834" y="2127647"/>
            <a:ext cx="2084239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122834" y="2650861"/>
            <a:ext cx="208423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Interpret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22834" y="3031861"/>
            <a:ext cx="20842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no-capex interventions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5975" y="4019683"/>
            <a:ext cx="10560050" cy="1107017"/>
          </a:xfrm>
          <a:prstGeom prst="roundRect">
            <a:avLst>
              <a:gd name="adj" fmla="val 13480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71033" y="4249341"/>
            <a:ext cx="103514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Tools used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1033" y="4630341"/>
            <a:ext cx="103514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Python, Pandas, NumPy, Plotly Express / Graph Objects, Streamlit, Antigravity IDE, GitHub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Visualization 1: Queues cut satisfaction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826375" y="1897990"/>
            <a:ext cx="3549650" cy="3940837"/>
          </a:xfrm>
          <a:prstGeom prst="roundRect">
            <a:avLst>
              <a:gd name="adj" fmla="val 4204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81434" y="2153047"/>
            <a:ext cx="313071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it shows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52554" y="2559447"/>
            <a:ext cx="305197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Satisfaction falls from about 3.5 to a floor of 1.0 as queues pass ~150 people (r = −0.841).</a:t>
            </a:r>
            <a:endParaRPr lang="en-US" sz="1400" dirty="0"/>
          </a:p>
          <a:p>
            <a:pPr marL="182880" indent="-18288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queues hold at roughly 165–185 people from 11 AM to 5 PM; service time stays near 8 minutes.</a:t>
            </a:r>
            <a:endParaRPr lang="en-US" sz="1400" dirty="0"/>
          </a:p>
          <a:p>
            <a:pPr marL="182880" indent="-182880" algn="l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bar-plus-line view shows queue and service time by hour; a scatter with trendline shows the queue–satisfaction link.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200" dirty="0"/>
          </a:p>
        </p:txBody>
      </p:sp>
      <p:pic>
        <p:nvPicPr>
          <p:cNvPr id="11" name="Picture 10" descr="bb78a6f4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58162"/>
            <a:ext cx="6784848" cy="2619498"/>
          </a:xfrm>
          <a:prstGeom prst="rect">
            <a:avLst/>
          </a:prstGeom>
          <a:ln w="12700">
            <a:solidFill>
              <a:srgbClr val="5B54B8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Visualizations 2 and 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800" y="5575300"/>
            <a:ext cx="5337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Demand is ~2× capacity; busiest zones hit ~140%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97600" y="5575300"/>
            <a:ext cx="53370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Vehicle counts differ 3×, but waits stay ~10 min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200" dirty="0"/>
          </a:p>
        </p:txBody>
      </p:sp>
      <p:pic>
        <p:nvPicPr>
          <p:cNvPr id="11" name="Picture 10" descr="70f7b52a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83967"/>
            <a:ext cx="5166360" cy="1974698"/>
          </a:xfrm>
          <a:prstGeom prst="rect">
            <a:avLst/>
          </a:prstGeom>
          <a:ln w="12700">
            <a:solidFill>
              <a:srgbClr val="5B54B8"/>
            </a:solidFill>
          </a:ln>
        </p:spPr>
      </p:pic>
      <p:pic>
        <p:nvPicPr>
          <p:cNvPr id="12" name="Picture 11" descr="d038d60b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2817842"/>
            <a:ext cx="5166360" cy="1706947"/>
          </a:xfrm>
          <a:prstGeom prst="rect">
            <a:avLst/>
          </a:prstGeom>
          <a:ln w="12700">
            <a:solidFill>
              <a:srgbClr val="5B54B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Key insights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90"/>
            <a:ext cx="3380317" cy="3940837"/>
          </a:xfrm>
          <a:prstGeom prst="roundRect">
            <a:avLst>
              <a:gd name="adj" fmla="val 441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1033" y="2153047"/>
            <a:ext cx="2956306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36.9%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71033" y="2925167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Insight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1033" y="3331567"/>
            <a:ext cx="295630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Dining bottleneck: </a:t>
            </a: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canteen queue congestion accounts for 36.9% of all critical campus incidents; diverting 30%–40% of traffic recovers satisfaction above 3.50/5.0.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5842" y="1897990"/>
            <a:ext cx="3380317" cy="3940837"/>
          </a:xfrm>
          <a:prstGeom prst="roundRect">
            <a:avLst>
              <a:gd name="adj" fmla="val 441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60900" y="2153047"/>
            <a:ext cx="2956306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139%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660900" y="2925167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Insight 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0900" y="3331567"/>
            <a:ext cx="295630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Transit deficit: </a:t>
            </a: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shuttle loops create a spatial mismatch, with 139% occupancy at Tech Park while Admin and Medical have near-zero unassigned demand.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95709" y="1897990"/>
            <a:ext cx="3380317" cy="3940837"/>
          </a:xfrm>
          <a:prstGeom prst="roundRect">
            <a:avLst>
              <a:gd name="adj" fmla="val 4415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50767" y="2153047"/>
            <a:ext cx="2956306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11 min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250767" y="2925167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Insight 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50767" y="3331567"/>
            <a:ext cx="295630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Weather impact: </a:t>
            </a: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rain lifts shuttle waits to 11.04 minutes, compounding 141 vehicles/hr of gate congestion during simultaneous class transitions.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Interactivity and demo plan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93"/>
            <a:ext cx="5175250" cy="3940837"/>
          </a:xfrm>
          <a:prstGeom prst="roundRect">
            <a:avLst>
              <a:gd name="adj" fmla="val 378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1033" y="215304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Interactive features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35041" y="2559447"/>
            <a:ext cx="4733459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9992" indent="-189992" algn="l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Filters: </a:t>
            </a: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multi-zone selector, Weekday/Weekend toggle, 8 AM–6 PM hour slider.</a:t>
            </a:r>
            <a:endParaRPr lang="en-US" sz="1500" dirty="0"/>
          </a:p>
          <a:p>
            <a:pPr marL="189992" indent="-189992" algn="l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Drill-downs: </a:t>
            </a: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hover tooltips and zoom/pan on every Plotly chart.</a:t>
            </a:r>
            <a:endParaRPr lang="en-US" sz="1500" dirty="0"/>
          </a:p>
          <a:p>
            <a:pPr marL="189992" indent="-189992" algn="l">
              <a:lnSpc>
                <a:spcPts val="22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Dynamic elements: </a:t>
            </a: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Ghost Kitchen Diverter slider (0%–60%), Dynamic Fleet Redistribution checkbox, Weather Protocol selector.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0775" y="1897993"/>
            <a:ext cx="5175250" cy="3940837"/>
          </a:xfrm>
          <a:prstGeom prst="roundRect">
            <a:avLst>
              <a:gd name="adj" fmla="val 378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55833" y="215304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Demo flow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148" y="2559447"/>
            <a:ext cx="4761153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7686" indent="-217686" algn="l">
              <a:lnSpc>
                <a:spcPts val="2250"/>
              </a:lnSpc>
              <a:spcAft>
                <a:spcPts val="800"/>
              </a:spcAft>
              <a:buSzPct val="100000"/>
              <a:buFontTx/>
              <a:buAutoNum type="arabicPeriod"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the final visualization (Streamlit app, localhost:8501)</a:t>
            </a:r>
            <a:endParaRPr lang="en-US" sz="1500" dirty="0"/>
          </a:p>
          <a:p>
            <a:pPr marL="217686" indent="-217686" algn="l">
              <a:lnSpc>
                <a:spcPts val="2250"/>
              </a:lnSpc>
              <a:spcAft>
                <a:spcPts val="800"/>
              </a:spcAft>
              <a:buSzPct val="100000"/>
              <a:buFontTx/>
              <a:buAutoNum type="arabicPeriod"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a filter: Tech Park &amp; Main Canteen at peak hour 12:00</a:t>
            </a:r>
            <a:endParaRPr lang="en-US" sz="1500" dirty="0"/>
          </a:p>
          <a:p>
            <a:pPr marL="217686" indent="-217686" algn="l">
              <a:lnSpc>
                <a:spcPts val="2250"/>
              </a:lnSpc>
              <a:spcAft>
                <a:spcPts val="800"/>
              </a:spcAft>
              <a:buSzPct val="100000"/>
              <a:buFontTx/>
              <a:buAutoNum type="arabicPeriod"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Drill into: the shuttle wait-time gauge, after ticking “Enable Dynamic Fleet Redistribution”</a:t>
            </a:r>
            <a:endParaRPr lang="en-US" sz="1500" dirty="0"/>
          </a:p>
          <a:p>
            <a:pPr marL="217686" indent="-217686" algn="l">
              <a:lnSpc>
                <a:spcPts val="2250"/>
              </a:lnSpc>
              <a:spcAft>
                <a:spcPts val="800"/>
              </a:spcAft>
              <a:buSzPct val="100000"/>
              <a:buFontTx/>
              <a:buAutoNum type="arabicPeriod"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 the key insight live: wait times drop from 10.2 min to under 5 min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37909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Conclusion and recommendations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75" y="1897993"/>
            <a:ext cx="5175250" cy="3940837"/>
          </a:xfrm>
          <a:prstGeom prst="roundRect">
            <a:avLst>
              <a:gd name="adj" fmla="val 378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71033" y="215304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we found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033" y="2559447"/>
            <a:ext cx="480508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Campus congestion at SRMIST is not an intractable capacity shortage, but an asynchronous scheduling and spatial distribution mismatch.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1033" y="4114800"/>
            <a:ext cx="480508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Limits: </a:t>
            </a: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dataset is synthetic, so effects are correlational and intervention gains are simulated estimates.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0775" y="1897993"/>
            <a:ext cx="5175250" cy="3940837"/>
          </a:xfrm>
          <a:prstGeom prst="roundRect">
            <a:avLst>
              <a:gd name="adj" fmla="val 378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55833" y="2153047"/>
            <a:ext cx="48050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FD8F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to do next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5389" y="2559447"/>
            <a:ext cx="47579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4445" indent="-214445" algn="l">
              <a:lnSpc>
                <a:spcPts val="2100"/>
              </a:lnSpc>
              <a:spcAft>
                <a:spcPts val="800"/>
              </a:spcAft>
              <a:buSzPct val="100000"/>
              <a:buFontTx/>
              <a:buAutoNum type="arabicPeriod"/>
            </a:pPr>
            <a:r>
              <a:rPr lang="en-US" sz="14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Decentralized locker pickup hubs: </a:t>
            </a: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 40% of peak canteen orders into pre-packaged meal lockers at Tech Park &amp; Library (cuts queues ~40%).</a:t>
            </a:r>
            <a:endParaRPr lang="en-US" sz="1400" dirty="0"/>
          </a:p>
          <a:p>
            <a:pPr marL="214445" indent="-214445" algn="l">
              <a:lnSpc>
                <a:spcPts val="2100"/>
              </a:lnSpc>
              <a:spcAft>
                <a:spcPts val="800"/>
              </a:spcAft>
              <a:buSzPct val="100000"/>
              <a:buFontTx/>
              <a:buAutoNum type="arabicPeriod"/>
            </a:pPr>
            <a:r>
              <a:rPr lang="en-US" sz="14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Predictive fleet balancing: </a:t>
            </a: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re-route 40% of idle shuttles from Admin/Medical to Tech Park during the 11 AM–3 PM peak (waits under 5 min).</a:t>
            </a:r>
            <a:endParaRPr lang="en-US" sz="1400" dirty="0"/>
          </a:p>
          <a:p>
            <a:pPr marL="214445" indent="-214445" algn="l">
              <a:lnSpc>
                <a:spcPts val="2100"/>
              </a:lnSpc>
              <a:spcAft>
                <a:spcPts val="800"/>
              </a:spcAft>
              <a:buSzPct val="100000"/>
              <a:buFontTx/>
              <a:buAutoNum type="arabicPeriod"/>
            </a:pPr>
            <a:r>
              <a:rPr lang="en-US" sz="1400" dirty="0" b="1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Weather-adaptive micro-staggering: </a:t>
            </a:r>
            <a:r>
              <a:rPr lang="en-US" sz="14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stagger Tech Park dismissal bells by 12 minutes to cut gate vehicle spikes by 28%.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 · DSBS, SRMIST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0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10B45"/>
              </a:gs>
              <a:gs pos="60000">
                <a:srgbClr val="2B1F96"/>
              </a:gs>
              <a:gs pos="100000">
                <a:srgbClr val="4A3CB8"/>
              </a:gs>
            </a:gsLst>
            <a:lin ang="42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350000" y="0"/>
            <a:ext cx="5842000" cy="5842000"/>
          </a:xfrm>
          <a:prstGeom prst="roundRect">
            <a:avLst>
              <a:gd name="adj" fmla="val 27826"/>
            </a:avLst>
          </a:prstGeom>
          <a:gradFill rotWithShape="1">
            <a:gsLst>
              <a:gs pos="0">
                <a:srgbClr val="3FD8F0">
                  <a:alpha val="30000"/>
                </a:srgbClr>
              </a:gs>
              <a:gs pos="70000">
                <a:srgbClr val="3FD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800" y="1927889"/>
            <a:ext cx="290941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3FD8F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DATAKON'26 · DATAVIZ</a:t>
            </a:r>
            <a:endParaRPr lang="en-US" sz="14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354597"/>
            <a:ext cx="5537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400" b="1" i="0" dirty="0">
                <a:solidFill>
                  <a:srgbClr val="F7F5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812800" y="3599197"/>
            <a:ext cx="2634787" cy="533400"/>
          </a:xfrm>
          <a:prstGeom prst="roundRect">
            <a:avLst>
              <a:gd name="adj" fmla="val 50000"/>
            </a:avLst>
          </a:prstGeom>
          <a:solidFill>
            <a:srgbClr val="3FD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kern="0" spc="400" dirty="0">
                <a:solidFill>
                  <a:srgbClr val="0B07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4310397"/>
            <a:ext cx="73152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Team: ShadowStack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4645620"/>
            <a:ext cx="73152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4E0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Kabir Singh Chadha · Viraj Singh Bhadouria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DSBS Students Association · SRMIST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DAD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Viz Sample PPT Template">
  <a:themeElements>
    <a:clrScheme name="DataViz Sample PPT Template">
      <a:dk1>
        <a:srgbClr val="110B45"/>
      </a:dk1>
      <a:lt1>
        <a:srgbClr val="FAF9F5"/>
      </a:lt1>
      <a:dk2>
        <a:srgbClr val="282357"/>
      </a:dk2>
      <a:lt2>
        <a:srgbClr val="C0BEC9"/>
      </a:lt2>
      <a:accent1>
        <a:srgbClr val="3FD8F0"/>
      </a:accent1>
      <a:accent2>
        <a:srgbClr val="DAD5FF"/>
      </a:accent2>
      <a:accent3>
        <a:srgbClr val="2B1F96"/>
      </a:accent3>
      <a:accent4>
        <a:srgbClr val="4A3CB8"/>
      </a:accent4>
      <a:accent5>
        <a:srgbClr val="E4E0FF"/>
      </a:accent5>
      <a:accent6>
        <a:srgbClr val="9AA0A6"/>
      </a:accent6>
      <a:hlink>
        <a:srgbClr val="0563C1"/>
      </a:hlink>
      <a:folHlink>
        <a:srgbClr val="954F72"/>
      </a:folHlink>
    </a:clrScheme>
    <a:fontScheme name="DataViz Sample PPT Template">
      <a:majorFont>
        <a:latin typeface="Fredok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1124</Words>
  <Application>Microsoft Office PowerPoint</Application>
  <PresentationFormat>Widescreen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DM Sans</vt:lpstr>
      <vt:lpstr>Fredoka</vt:lpstr>
      <vt:lpstr>DataViz Sample PPT Template</vt:lpstr>
      <vt:lpstr>DATAKON'26</vt:lpstr>
      <vt:lpstr>How to use this template</vt:lpstr>
      <vt:lpstr>Problem statement</vt:lpstr>
      <vt:lpstr>Dataset overview</vt:lpstr>
      <vt:lpstr>Approach and tools</vt:lpstr>
      <vt:lpstr>Visualization 1: [Finding as title]</vt:lpstr>
      <vt:lpstr>Visualizations 2 and 3</vt:lpstr>
      <vt:lpstr>Key insights</vt:lpstr>
      <vt:lpstr>Interactivity and demo plan</vt:lpstr>
      <vt:lpstr>Conclusion and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DataViz Sample PPT Template</dc:title>
  <dc:subject/>
  <dc:creator/>
  <cp:lastModifiedBy>chadhakabir88@outlook.com</cp:lastModifiedBy>
  <cp:revision>4</cp:revision>
  <dcterms:created xsi:type="dcterms:W3CDTF">2026-10-07T05:41:39Z</dcterms:created>
  <dcterms:modified xsi:type="dcterms:W3CDTF">2026-10-08T07:26:29Z</dcterms:modified>
</cp:coreProperties>
</file>